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6000" b="1">
                <a:solidFill>
                  <a:srgbClr val="00FF80"/>
                </a:solidFill>
              </a:defRPr>
            </a:pPr>
            <a:r>
              <a:t>ARES PROTOCOL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C8C8C8"/>
                </a:solidFill>
              </a:defRPr>
            </a:pPr>
            <a:r>
              <a:t>The Autonomous Settlement Layer for Physical Assets</a:t>
            </a:r>
          </a:p>
          <a:p>
            <a:r>
              <a:t>HKUST BLOCKCHAIN LAB //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$600B Authenticity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2560320" cy="3657600"/>
          </a:xfrm>
          <a:prstGeom prst="rect">
            <a:avLst/>
          </a:prstGeom>
          <a:solidFill>
            <a:srgbClr val="1E1E1E"/>
          </a:solidFill>
          <a:ln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TRUST DEFICIT</a:t>
            </a:r>
            <a:br/>
            <a:br/>
            <a:r>
              <a:t>Secondary markets rely on centralized 'experts'—creating bottlenecks and high failure rates.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0" y="1828800"/>
            <a:ext cx="2560320" cy="3657600"/>
          </a:xfrm>
          <a:prstGeom prst="rect">
            <a:avLst/>
          </a:prstGeom>
          <a:solidFill>
            <a:srgbClr val="1E1E1E"/>
          </a:solidFill>
          <a:ln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SETTLEMENT LAG</a:t>
            </a:r>
            <a:br/>
            <a:br/>
            <a:r>
              <a:t>Manual escrow takes 7-14 days. Capital is trapped in inefficient legacy rails.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2560320" cy="3657600"/>
          </a:xfrm>
          <a:prstGeom prst="rect">
            <a:avLst/>
          </a:prstGeom>
          <a:solidFill>
            <a:srgbClr val="1E1E1E"/>
          </a:solidFill>
          <a:ln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AGENT INCAPACITY</a:t>
            </a:r>
            <a:br/>
            <a:br/>
            <a:r>
              <a:t>AI Agents cannot 'touch' physical goods, preventing autonomous arbitrage.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Architecture: Tri-Layer Trust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2286000" cy="1371600"/>
          </a:xfrm>
          <a:prstGeom prst="roundRect">
            <a:avLst/>
          </a:prstGeom>
          <a:solidFill>
            <a:srgbClr val="0078D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AUTONOMOUS LAYER</a:t>
            </a:r>
          </a:p>
          <a:p>
            <a:r>
              <a:t>(AI Agents / ERC-6551)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286000"/>
            <a:ext cx="2286000" cy="1371600"/>
          </a:xfrm>
          <a:prstGeom prst="roundRect">
            <a:avLst/>
          </a:prstGeom>
          <a:solidFill>
            <a:srgbClr val="00FF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000000"/>
                </a:solidFill>
              </a:defRPr>
            </a:pPr>
            <a:r>
              <a:t>SETTLEMENT LAYER</a:t>
            </a:r>
          </a:p>
          <a:p>
            <a:r>
              <a:t>(Escrow / Marketplace)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286000"/>
            <a:ext cx="2286000" cy="1371600"/>
          </a:xfrm>
          <a:prstGeom prst="roundRect">
            <a:avLst/>
          </a:prstGeom>
          <a:solidFill>
            <a:srgbClr val="800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PHYSICAL LAYER</a:t>
            </a:r>
          </a:p>
          <a:p>
            <a:r>
              <a:t>(DePIN / NFC Hardware)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2971800"/>
            <a:ext cx="6858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715000" y="2971800"/>
            <a:ext cx="6858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Convergence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solidFill>
            <a:srgbClr val="14141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1800" b="1"/>
            </a:pPr>
            <a:r>
              <a:t>Total Addressable Market (TAM): $15 Trillion (M2M Commerce by 2030)</a:t>
            </a:r>
          </a:p>
          <a:p>
            <a:r>
              <a:t>• Collectibles: $602B (6.4% CAGR)</a:t>
            </a:r>
          </a:p>
          <a:p>
            <a:r>
              <a:t>• DePIN Infra: $3.5T Projected</a:t>
            </a:r>
          </a:p>
          <a:p>
            <a:r>
              <a:t>• Agentic Trades: 15-25% of all e-commerce by 2030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Reputation &amp; Staking: The Trust 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914400" y="2286000"/>
            <a:ext cx="2743200" cy="2743200"/>
          </a:xfrm>
          <a:prstGeom prst="ellipse">
            <a:avLst/>
          </a:prstGeom>
          <a:gradFill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/>
            </a:pPr>
            <a:r>
              <a:t>AREP</a:t>
            </a:r>
          </a:p>
          <a:p>
            <a:r>
              <a:t>Soulbound Score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2286000"/>
            <a:ext cx="3657600" cy="2743200"/>
          </a:xfrm>
          <a:prstGeom prst="rect">
            <a:avLst/>
          </a:prstGeom>
          <a:solidFill>
            <a:srgbClr val="2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b="1"/>
            </a:pPr>
            <a:r>
              <a:t>TRUST DYNAMICS:</a:t>
            </a:r>
          </a:p>
          <a:p>
            <a:r>
              <a:t>+10: Successful Trade</a:t>
            </a:r>
          </a:p>
          <a:p>
            <a:r>
              <a:t>+5: Valid Verification</a:t>
            </a:r>
          </a:p>
          <a:p>
            <a:r>
              <a:t>-20: Malicious Slashing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JOIN THE AGENTIC REVOLUTION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ARES.PROTOCOL // FUTURE-PROOF COMMERCE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